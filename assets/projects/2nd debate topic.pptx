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F61A92-0570-F336-2177-E402F4F8AD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BBCA5B-025A-DC10-E962-A068B96E9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C50ADF-65BC-2589-B5FB-F9FA56A6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C5-9605-4C64-9D9E-8E649A77B2D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ABFBF-8E39-85E0-BABD-5DD4DA56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FEA5BF-A55C-6AD3-9D28-98F0229C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1CF1-4EA7-4498-8551-5948EB2C7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417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0AF2C-9461-7423-BB6A-15127033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161228-2AF5-B907-EF74-D9AB90DF7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18A6CE-93DD-BE99-FCFB-3FB80541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C5-9605-4C64-9D9E-8E649A77B2D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8FA964-0D5E-3BF6-40DF-E2F5917BC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03C42A-E537-D44B-987C-821034D86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1CF1-4EA7-4498-8551-5948EB2C7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89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C3754-770E-71AA-FCD6-BBAD52018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C8023F-96BA-774E-F832-8B538E4F4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B01158-F94C-68D0-3676-BDE2CBF5D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C5-9605-4C64-9D9E-8E649A77B2D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D3848B-AD5D-3EB9-005D-6D83C510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C1EA25-343A-BFFF-0C31-F73FC727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1CF1-4EA7-4498-8551-5948EB2C7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033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37528E-9E83-B1A9-66B3-262280F1C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CD4B96-B39B-F1D5-2E8C-E0E8DF4AB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1FC8BB-351B-18A3-60A2-97024F7FA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1C0CB6-A0B5-7DCE-F76D-D90AC75C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C5-9605-4C64-9D9E-8E649A77B2D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35764E1-6D7D-ADDE-D9E1-D54360588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0D2668-7D64-717E-1DB9-0AF8E7B07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1CF1-4EA7-4498-8551-5948EB2C7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61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593489-C722-1A0F-AC9B-46EA236C1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280A19-8ABC-DD75-EE18-DC9A7F6C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24560C-8953-313B-43D1-E8367D576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2A75375-93FB-EAC9-1B52-555C1E5CF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4B1A716-2F31-62AA-51C6-905D2A4328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BAB8D80-7173-D800-5CC0-A5A68ED08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C5-9605-4C64-9D9E-8E649A77B2D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B086942-C747-0CB6-E62B-FC16ED262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1FF3A2F-BCF8-9D91-4362-A3985FC80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1CF1-4EA7-4498-8551-5948EB2C7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66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E6B0AC-DE7F-91CC-4E4D-9F812057F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BA9FBBC-55B9-D4C6-9218-A9FB031E4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C5-9605-4C64-9D9E-8E649A77B2D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C56817-E767-7D47-A902-0F94D5EA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F364B6E-4A55-8F1F-96CA-E25FF5832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1CF1-4EA7-4498-8551-5948EB2C7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27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64522F8-A93D-8301-3322-984BB48A1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C5-9605-4C64-9D9E-8E649A77B2D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FE325CC-AED1-E270-1832-BA469C5F9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E68E26-6475-F0B4-4E50-229DDB1F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1CF1-4EA7-4498-8551-5948EB2C7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420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1F769-C3D0-D60D-AA56-049BBF318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B4BFD5-3884-F2D3-1B90-AAF5D8ECA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A221A1-AC69-4D06-E272-153A56C29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863132-E3FC-2EF0-1DCC-B52E79973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C5-9605-4C64-9D9E-8E649A77B2D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778F19-E227-89C9-45DC-2EF69F6E4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AAE9E5-0C13-B5C6-8CE5-74E0FD4E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1CF1-4EA7-4498-8551-5948EB2C7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72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4BC196-FD8D-022A-ACD3-665FEBE3F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1437D56-5030-3CF5-C678-13E29B059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7BA45C-3D34-71D5-61E1-18166F60B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D6038D-06BD-3090-F58F-A6A2447B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C5-9605-4C64-9D9E-8E649A77B2D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7D796D-6B48-C1E2-9C51-8DCABD0A8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569AE1-0993-1D59-0105-216365A2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1CF1-4EA7-4498-8551-5948EB2C7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46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F87ABA-08C6-66DC-A2BC-0243F342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9BDF9A-A281-31FF-8EA4-4CCC125B0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4858CD-68D9-D1C4-C00B-6FF9D662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C5-9605-4C64-9D9E-8E649A77B2D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3A5588-54D2-9E67-1535-AB61467A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4624BA-A3AE-10DF-54CD-2B9F6517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1CF1-4EA7-4498-8551-5948EB2C7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71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9B29EF-93D3-77FB-F0BF-9D8049A7CA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0E0320-56BF-A167-D69E-67D81F616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288540-6BAB-7B47-821B-9E366C24E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C5-9605-4C64-9D9E-8E649A77B2D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F83011-4405-3D30-7F92-9D89568D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8913F9-BF61-EC1D-8711-6A8D4E65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1CF1-4EA7-4498-8551-5948EB2C7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421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95EB4-2140-E87A-9BFC-90188F273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682E70-D8E8-BE33-3E8F-F72B69B7E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29D19D-754F-9787-41C4-704223C4D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416C5-9605-4C64-9D9E-8E649A77B2D9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188BEC-0800-BE1D-ACD0-C74DC3F1F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CC3131-B852-37B5-696C-EB3C1F7DF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11CF1-4EA7-4498-8551-5948EB2C76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87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5469DD-BF1D-4D11-0F18-B0B7788C7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241458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871A734-6859-B877-632E-5CA4C3280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09716" y="117987"/>
            <a:ext cx="6209071" cy="1577924"/>
          </a:xfrm>
        </p:spPr>
        <p:txBody>
          <a:bodyPr>
            <a:normAutofit/>
          </a:bodyPr>
          <a:lstStyle/>
          <a:p>
            <a:r>
              <a:rPr lang="en-GB" sz="6600" b="1" dirty="0">
                <a:highlight>
                  <a:srgbClr val="FFFF00"/>
                </a:highlight>
              </a:rPr>
              <a:t>What  is  AI?</a:t>
            </a:r>
            <a:endParaRPr lang="ru-RU" sz="66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20004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F293DC-5593-F93E-AC17-65D8AB72D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2800"/>
            <a:ext cx="12192000" cy="6851905"/>
          </a:xfrm>
          <a:prstGeom prst="rect">
            <a:avLst/>
          </a:prstGeom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701F803E-3D0F-A2A8-07B0-D596D279CC1A}"/>
              </a:ext>
            </a:extLst>
          </p:cNvPr>
          <p:cNvSpPr/>
          <p:nvPr/>
        </p:nvSpPr>
        <p:spPr>
          <a:xfrm>
            <a:off x="4306528" y="2481416"/>
            <a:ext cx="2615380" cy="19467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800" dirty="0"/>
              <a:t>AI</a:t>
            </a:r>
            <a:endParaRPr lang="ru-RU" sz="8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6D58E04-78A5-A467-874D-94F4C489D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516" y="0"/>
            <a:ext cx="3697404" cy="219116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F8326D0-0F24-CD99-A5E7-FAC33FFC43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947" y="1961535"/>
            <a:ext cx="2706328" cy="244085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8A97EEB-B67C-1BB3-2CAF-E6B0265DDA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277" y="4790895"/>
            <a:ext cx="2871257" cy="193821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E79CC0F-15B1-F329-E797-DBF32D6B07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318" y="4782319"/>
            <a:ext cx="2615380" cy="194678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9F02A7B-81CC-032E-FE2C-FCB7224E54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90" y="2348526"/>
            <a:ext cx="3082413" cy="207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9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B53E9B-48D5-1B30-A7B0-A794C6731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DF0AE2F-30BE-0898-C577-BFC9E19DB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038"/>
            <a:ext cx="10515600" cy="144892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 </a:t>
            </a:r>
            <a:r>
              <a:rPr lang="en-GB" sz="6000" dirty="0">
                <a:solidFill>
                  <a:srgbClr val="FFFF00"/>
                </a:solidFill>
                <a:latin typeface="Franklin Gothic Pro Heavy" panose="02000903060000020004" pitchFamily="2" charset="0"/>
              </a:rPr>
              <a:t>Artificial  Intelligence  in  Education</a:t>
            </a:r>
            <a:endParaRPr lang="ru-RU" sz="6000" dirty="0">
              <a:solidFill>
                <a:srgbClr val="FFFF0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A5B6CC1-57A9-BAD5-6F94-8563600C7C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" y="1814052"/>
            <a:ext cx="4498258" cy="222700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9307E7E-6831-2CA5-2380-34FBABA91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473" y="4338887"/>
            <a:ext cx="3871438" cy="236307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AA253DF-93C8-4637-3B42-25AD7815B5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453" y="4338887"/>
            <a:ext cx="3871438" cy="230219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3B5D856-9019-0208-8F17-E71CC7D121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642" y="1814052"/>
            <a:ext cx="4498258" cy="222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41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D875155-7C59-7B3E-B84B-92A2D00A1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2" y="-545691"/>
            <a:ext cx="4483510" cy="6858000"/>
          </a:xfrm>
        </p:spPr>
        <p:txBody>
          <a:bodyPr>
            <a:normAutofit fontScale="9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       </a:t>
            </a:r>
            <a:br>
              <a:rPr lang="en-GB" dirty="0">
                <a:highlight>
                  <a:srgbClr val="FFFF00"/>
                </a:highlight>
              </a:rPr>
            </a:br>
            <a:br>
              <a:rPr lang="en-GB" dirty="0">
                <a:highlight>
                  <a:srgbClr val="FFFF00"/>
                </a:highlight>
              </a:rPr>
            </a:br>
            <a:br>
              <a:rPr lang="en-GB" dirty="0">
                <a:highlight>
                  <a:srgbClr val="FFFF00"/>
                </a:highlight>
              </a:rPr>
            </a:br>
            <a:r>
              <a:rPr lang="en-GB" dirty="0">
                <a:highlight>
                  <a:srgbClr val="FFFF00"/>
                </a:highlight>
              </a:rPr>
              <a:t>         </a:t>
            </a:r>
            <a:br>
              <a:rPr lang="en-GB" dirty="0">
                <a:highlight>
                  <a:srgbClr val="FFFF00"/>
                </a:highlight>
              </a:rPr>
            </a:br>
            <a:r>
              <a:rPr lang="en-GB" dirty="0">
                <a:highlight>
                  <a:srgbClr val="FFFF00"/>
                </a:highlight>
              </a:rPr>
              <a:t>        </a:t>
            </a:r>
            <a:r>
              <a:rPr lang="en-GB" b="1" dirty="0">
                <a:highlight>
                  <a:srgbClr val="FFFF00"/>
                </a:highlight>
              </a:rPr>
              <a:t>It  explains  everything  clearly</a:t>
            </a:r>
            <a:br>
              <a:rPr lang="en-GB" b="1" dirty="0">
                <a:highlight>
                  <a:srgbClr val="FFFF00"/>
                </a:highlight>
              </a:rPr>
            </a:br>
            <a:br>
              <a:rPr lang="en-GB" dirty="0">
                <a:highlight>
                  <a:srgbClr val="FFFF00"/>
                </a:highlight>
              </a:rPr>
            </a:br>
            <a:br>
              <a:rPr lang="en-GB" dirty="0">
                <a:highlight>
                  <a:srgbClr val="FFFF00"/>
                </a:highlight>
              </a:rPr>
            </a:br>
            <a:r>
              <a:rPr lang="en-GB" dirty="0">
                <a:highlight>
                  <a:srgbClr val="FFFF00"/>
                </a:highlight>
              </a:rPr>
              <a:t>        </a:t>
            </a:r>
            <a:r>
              <a:rPr lang="en-GB" sz="4900" b="1" dirty="0">
                <a:highlight>
                  <a:srgbClr val="FFFF00"/>
                </a:highlight>
              </a:rPr>
              <a:t>Simplifies  complex  topics</a:t>
            </a:r>
            <a:br>
              <a:rPr lang="en-GB" dirty="0">
                <a:highlight>
                  <a:srgbClr val="FFFF00"/>
                </a:highlight>
              </a:rPr>
            </a:br>
            <a:br>
              <a:rPr lang="en-GB" dirty="0">
                <a:highlight>
                  <a:srgbClr val="FFFF00"/>
                </a:highlight>
              </a:rPr>
            </a:br>
            <a:br>
              <a:rPr lang="en-GB" dirty="0">
                <a:highlight>
                  <a:srgbClr val="FFFF00"/>
                </a:highlight>
              </a:rPr>
            </a:br>
            <a:r>
              <a:rPr lang="en-GB" dirty="0">
                <a:highlight>
                  <a:srgbClr val="FFFF00"/>
                </a:highlight>
              </a:rPr>
              <a:t>      </a:t>
            </a:r>
            <a:r>
              <a:rPr lang="en-GB" b="1" dirty="0">
                <a:highlight>
                  <a:srgbClr val="FFFF00"/>
                </a:highlight>
              </a:rPr>
              <a:t>Solves   problems   step  by  step</a:t>
            </a:r>
            <a:br>
              <a:rPr lang="en-GB" dirty="0">
                <a:solidFill>
                  <a:schemeClr val="tx2"/>
                </a:solidFill>
                <a:highlight>
                  <a:srgbClr val="FFFF00"/>
                </a:highlight>
              </a:rPr>
            </a:br>
            <a:br>
              <a:rPr lang="en-GB" dirty="0">
                <a:highlight>
                  <a:srgbClr val="FFFF00"/>
                </a:highlight>
              </a:rPr>
            </a:br>
            <a:br>
              <a:rPr lang="en-GB" dirty="0">
                <a:highlight>
                  <a:srgbClr val="FFFF00"/>
                </a:highlight>
              </a:rPr>
            </a:br>
            <a:endParaRPr lang="ru-RU" dirty="0">
              <a:highlight>
                <a:srgbClr val="FFFF00"/>
              </a:highlight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E0A0059-4C9B-92C8-A819-C97CC0825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510" y="0"/>
            <a:ext cx="7708490" cy="6858000"/>
          </a:xfrm>
          <a:prstGeom prst="rect">
            <a:avLst/>
          </a:prstGeom>
        </p:spPr>
      </p:pic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4733256C-8EC3-9215-73B2-25D8240947CC}"/>
              </a:ext>
            </a:extLst>
          </p:cNvPr>
          <p:cNvSpPr/>
          <p:nvPr/>
        </p:nvSpPr>
        <p:spPr>
          <a:xfrm>
            <a:off x="147485" y="2640993"/>
            <a:ext cx="8259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2DEF3D04-52E5-1FCA-7E33-F6C9C711052C}"/>
              </a:ext>
            </a:extLst>
          </p:cNvPr>
          <p:cNvSpPr/>
          <p:nvPr/>
        </p:nvSpPr>
        <p:spPr>
          <a:xfrm>
            <a:off x="147485" y="356027"/>
            <a:ext cx="8259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: вправо 15">
            <a:extLst>
              <a:ext uri="{FF2B5EF4-FFF2-40B4-BE49-F238E27FC236}">
                <a16:creationId xmlns:a16="http://schemas.microsoft.com/office/drawing/2014/main" id="{114876F4-3420-4B00-1D79-948EA2F7E0E2}"/>
              </a:ext>
            </a:extLst>
          </p:cNvPr>
          <p:cNvSpPr/>
          <p:nvPr/>
        </p:nvSpPr>
        <p:spPr>
          <a:xfrm flipV="1">
            <a:off x="125363" y="4845879"/>
            <a:ext cx="604683" cy="484631"/>
          </a:xfrm>
          <a:prstGeom prst="rightArrow">
            <a:avLst>
              <a:gd name="adj1" fmla="val 65385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89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5AB12A-D9BA-087B-7CD6-54C7CFD8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6415547" y="0"/>
            <a:ext cx="5776451" cy="6857999"/>
          </a:xfrm>
        </p:spPr>
        <p:txBody>
          <a:bodyPr>
            <a:normAutofit/>
          </a:bodyPr>
          <a:lstStyle/>
          <a:p>
            <a:r>
              <a:rPr lang="en-GB" dirty="0">
                <a:highlight>
                  <a:srgbClr val="FFFF00"/>
                </a:highlight>
                <a:latin typeface="Lucida Console" panose="020B0609040504020204" pitchFamily="49" charset="0"/>
              </a:rPr>
              <a:t>SUPPORTING    APPLICATIONS</a:t>
            </a:r>
            <a:br>
              <a:rPr lang="en-GB" dirty="0">
                <a:highlight>
                  <a:srgbClr val="FFFF00"/>
                </a:highlight>
                <a:latin typeface="Lucida Console" panose="020B0609040504020204" pitchFamily="49" charset="0"/>
              </a:rPr>
            </a:br>
            <a:br>
              <a:rPr lang="en-GB" dirty="0">
                <a:highlight>
                  <a:srgbClr val="FFFF00"/>
                </a:highlight>
                <a:latin typeface="Lucida Console" panose="020B0609040504020204" pitchFamily="49" charset="0"/>
              </a:rPr>
            </a:br>
            <a:br>
              <a:rPr lang="en-GB" dirty="0">
                <a:highlight>
                  <a:srgbClr val="FFFF00"/>
                </a:highlight>
                <a:latin typeface="Lucida Console" panose="020B0609040504020204" pitchFamily="49" charset="0"/>
              </a:rPr>
            </a:br>
            <a:br>
              <a:rPr lang="en-GB" dirty="0">
                <a:highlight>
                  <a:srgbClr val="FFFF00"/>
                </a:highlight>
                <a:latin typeface="Lucida Console" panose="020B0609040504020204" pitchFamily="49" charset="0"/>
              </a:rPr>
            </a:br>
            <a:br>
              <a:rPr lang="en-GB" dirty="0">
                <a:highlight>
                  <a:srgbClr val="FFFF00"/>
                </a:highlight>
                <a:latin typeface="Lucida Console" panose="020B0609040504020204" pitchFamily="49" charset="0"/>
              </a:rPr>
            </a:br>
            <a:br>
              <a:rPr lang="en-GB" dirty="0">
                <a:highlight>
                  <a:srgbClr val="FFFF00"/>
                </a:highlight>
                <a:latin typeface="Lucida Console" panose="020B0609040504020204" pitchFamily="49" charset="0"/>
              </a:rPr>
            </a:br>
            <a:br>
              <a:rPr lang="en-GB" dirty="0">
                <a:highlight>
                  <a:srgbClr val="FFFF00"/>
                </a:highlight>
                <a:latin typeface="Lucida Console" panose="020B0609040504020204" pitchFamily="49" charset="0"/>
              </a:rPr>
            </a:br>
            <a:br>
              <a:rPr lang="en-GB" dirty="0">
                <a:highlight>
                  <a:srgbClr val="FFFF00"/>
                </a:highlight>
                <a:latin typeface="Lucida Console" panose="020B0609040504020204" pitchFamily="49" charset="0"/>
              </a:rPr>
            </a:br>
            <a:br>
              <a:rPr lang="en-GB" dirty="0">
                <a:highlight>
                  <a:srgbClr val="FFFF00"/>
                </a:highlight>
                <a:latin typeface="Lucida Console" panose="020B0609040504020204" pitchFamily="49" charset="0"/>
              </a:rPr>
            </a:br>
            <a:endParaRPr lang="ru-RU" dirty="0">
              <a:highlight>
                <a:srgbClr val="FFFF00"/>
              </a:highlight>
              <a:latin typeface="Lucida Console" panose="020B0609040504020204" pitchFamily="49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38E005-7B3F-9E74-2FE0-1B4E4E0B4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415548" cy="6858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BD25EE0-A804-5FF1-8783-E33FFC4BB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456" y="1386349"/>
            <a:ext cx="2812051" cy="202052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ABE355C-0BD6-AC6C-0D3B-A3AD2BDCDC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772" y="2772697"/>
            <a:ext cx="2875962" cy="202052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49B728A-017E-24DA-11E3-0F424174B9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547" y="4683570"/>
            <a:ext cx="2888225" cy="217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4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EF8795-A6C8-7C35-5182-FD560942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highlight>
                  <a:srgbClr val="FFFF00"/>
                </a:highlight>
              </a:rPr>
              <a:t>Now, let’s compare AI with teachers, and find out whether it can replace them</a:t>
            </a:r>
            <a:endParaRPr lang="ru-RU" sz="3200" b="1" dirty="0">
              <a:highlight>
                <a:srgbClr val="FFFF00"/>
              </a:highlight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D3B3A6-612B-C7C7-48F7-FCFEB3C40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316" y="1209369"/>
            <a:ext cx="9085007" cy="564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037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7B6824-814B-A556-B3DC-14B813CEB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221" y="-2874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highlight>
                  <a:srgbClr val="FFFF00"/>
                </a:highlight>
              </a:rPr>
              <a:t>AI vs Teachers</a:t>
            </a:r>
            <a:endParaRPr lang="ru-RU" sz="4000" b="1" dirty="0">
              <a:highlight>
                <a:srgbClr val="FFFF00"/>
              </a:highlight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F3C053-1F6A-51FA-F7A9-86622616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4854" y="503724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highlight>
                  <a:srgbClr val="FFFF00"/>
                </a:highlight>
              </a:rPr>
              <a:t>Artificial intelligence</a:t>
            </a:r>
            <a:endParaRPr lang="ru-RU" sz="2800" dirty="0">
              <a:highlight>
                <a:srgbClr val="FFFF00"/>
              </a:highlight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6FD5B2-226B-0D16-DC4E-A8CD1FAFF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327636"/>
            <a:ext cx="5157787" cy="5530364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Accesses vast, up-to-date information instantly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Excellent at retrieval, summarization, pattern detection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Consistency: same answer every time (unless updated)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Strong logical reasoning and structured explanations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Works best with well-defined problems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Lacks true understanding or lived experience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Scales personalization to millions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Adapts pace, difficulty, and format instantly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No fatigue or bias from mood or workload</a:t>
            </a:r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r>
              <a:rPr lang="en-US" sz="2000" b="1" dirty="0"/>
              <a:t>Bottom line:</a:t>
            </a:r>
          </a:p>
          <a:p>
            <a:pPr marL="0" indent="0" algn="ctr">
              <a:buNone/>
            </a:pPr>
            <a:r>
              <a:rPr lang="en-US" sz="2000" b="1" dirty="0"/>
              <a:t>AI is a tool that delivers knowledge.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endParaRPr lang="ru-RU" sz="20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5EF16B-F53D-5F0C-14C5-54955208A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375339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highlight>
                  <a:srgbClr val="FFFF00"/>
                </a:highlight>
              </a:rPr>
              <a:t>Teachers</a:t>
            </a:r>
            <a:endParaRPr lang="ru-RU" sz="2800" dirty="0">
              <a:highlight>
                <a:srgbClr val="FFFF00"/>
              </a:highlight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65CC7C-8C73-1EBD-EFC0-6A5B92ED4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1199251"/>
            <a:ext cx="5183188" cy="565874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Knowledge is contextual, curated, and experience-based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Can prioritize </a:t>
            </a:r>
            <a:r>
              <a:rPr lang="en-US" sz="2200" b="1" i="1" dirty="0"/>
              <a:t>what matters</a:t>
            </a:r>
            <a:r>
              <a:rPr lang="en-US" sz="2200" b="1" dirty="0"/>
              <a:t> for a specific group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Teach </a:t>
            </a:r>
            <a:r>
              <a:rPr lang="en-US" sz="2200" b="1" i="1" dirty="0"/>
              <a:t>why</a:t>
            </a:r>
            <a:r>
              <a:rPr lang="en-US" sz="2200" b="1" dirty="0"/>
              <a:t> something matters, not just </a:t>
            </a:r>
            <a:r>
              <a:rPr lang="en-US" sz="2200" b="1" i="1" dirty="0"/>
              <a:t>what it 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Understand misconceptions, confusion, and learning gaps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Adapt explanations based on student reactions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Use analogies grounded in real life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Personalize through human judgment and intuition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/>
              <a:t>Limited by class size and time</a:t>
            </a:r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r>
              <a:rPr lang="en-US" sz="2000" b="1" dirty="0"/>
              <a:t>Bottom line:</a:t>
            </a:r>
          </a:p>
          <a:p>
            <a:pPr marL="0" indent="0" algn="ctr">
              <a:buNone/>
            </a:pPr>
            <a:r>
              <a:rPr lang="en-US" sz="2000" b="1" dirty="0"/>
              <a:t>Teachers are the guides who turn knowledge into wisdom.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3416959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E1EC702E-FE8B-EA8B-987C-D8339C258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94B6AF-C31E-9F8A-6D93-F77A83626917}"/>
              </a:ext>
            </a:extLst>
          </p:cNvPr>
          <p:cNvSpPr txBox="1"/>
          <p:nvPr/>
        </p:nvSpPr>
        <p:spPr>
          <a:xfrm>
            <a:off x="5641258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4F9FB6-35F4-EA45-AF38-5E889356748A}"/>
              </a:ext>
            </a:extLst>
          </p:cNvPr>
          <p:cNvSpPr txBox="1"/>
          <p:nvPr/>
        </p:nvSpPr>
        <p:spPr>
          <a:xfrm>
            <a:off x="2507226" y="678426"/>
            <a:ext cx="8731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Artificial  In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629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218</Words>
  <Application>Microsoft Office PowerPoint</Application>
  <PresentationFormat>Широкоэкранный</PresentationFormat>
  <Paragraphs>34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Franklin Gothic Pro Heavy</vt:lpstr>
      <vt:lpstr>Lucida Console</vt:lpstr>
      <vt:lpstr>Wingdings</vt:lpstr>
      <vt:lpstr>Тема Office</vt:lpstr>
      <vt:lpstr>What  is  AI?</vt:lpstr>
      <vt:lpstr>Презентация PowerPoint</vt:lpstr>
      <vt:lpstr> Artificial  Intelligence  in  Education</vt:lpstr>
      <vt:lpstr>                            It  explains  everything  clearly           Simplifies  complex  topics         Solves   problems   step  by  step   </vt:lpstr>
      <vt:lpstr>SUPPORTING    APPLICATIONS         </vt:lpstr>
      <vt:lpstr>Now, let’s compare AI with teachers, and find out whether it can replace them</vt:lpstr>
      <vt:lpstr>AI vs Teachers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Noutbuk Navoi</dc:creator>
  <cp:lastModifiedBy>Noutbuk Navoi</cp:lastModifiedBy>
  <cp:revision>3</cp:revision>
  <dcterms:created xsi:type="dcterms:W3CDTF">2026-01-22T08:41:59Z</dcterms:created>
  <dcterms:modified xsi:type="dcterms:W3CDTF">2026-02-06T15:29:56Z</dcterms:modified>
</cp:coreProperties>
</file>