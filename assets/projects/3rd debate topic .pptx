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D19B1A-431E-28AD-11C8-898C0C59F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F8A82D-C5C8-9EA2-26A7-4CF42AB78F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541DE9-6FB3-B059-8BDE-20D14160A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C0A5-BCE3-4189-B342-79719AB6E92B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39E753-006C-5EEB-0397-8B31E6F76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E2EE37-A20E-46C3-3943-B9B923755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F2A3F-308E-433B-B560-3578C9E5A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59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26915B-CED1-A1A3-4179-B85BAC91F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93F8F1-7FF2-46BD-057B-583662D5F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DCA263-3AC7-D595-9569-15327FA4A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C0A5-BCE3-4189-B342-79719AB6E92B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5DC82E-1DBC-E56C-F2E8-A2577FC09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FBCC7C-1253-149F-FD29-9DBF4D3A1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F2A3F-308E-433B-B560-3578C9E5A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496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213E0C-8C9A-40FA-5F45-67C88B07A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BA2A10-39CD-A4F3-0812-B33CC4C99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3C84B8-E0B1-2D24-6D19-B480EE58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C0A5-BCE3-4189-B342-79719AB6E92B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23FC83-0F4A-E53D-9AAA-46A6BEB27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E0AA51-1C9B-61A1-C275-F1CAA4811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F2A3F-308E-433B-B560-3578C9E5A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6344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72413F-3467-6A12-0DC4-17209051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5FF318-CF83-4414-10D5-600F30A0BF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BA58CC9-9914-C47E-A41D-41FCE3FB2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5E5E14-8D4C-6B80-1EAC-9FAC30627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C0A5-BCE3-4189-B342-79719AB6E92B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56CB06-51CA-DBF0-3692-1F24B948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6BE313-C386-1BC6-C90D-E49405E55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F2A3F-308E-433B-B560-3578C9E5A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0668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AA107-117F-FC12-EACB-90FCCD064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4438E3-7E0E-3F10-F1F0-700BF7575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669F18-264D-5F09-0ADB-967CC5590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079EAEF-E2D7-9E8F-FEE1-4F4AF66BCC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E39925D-45F6-BA77-9635-BAB490F07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D2EDDF8-A6BE-28E6-3A65-371C768B9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C0A5-BCE3-4189-B342-79719AB6E92B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F0B464E-80A5-E319-9FC7-E66F23A55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2EB4D48-9DA2-F684-F40D-7884C77EF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F2A3F-308E-433B-B560-3578C9E5A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0016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1FEE58-2FAA-4F6A-D9F9-358C34A58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E35A446-BC89-7D28-9791-32594E46E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C0A5-BCE3-4189-B342-79719AB6E92B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35D9DBC-AB22-27CF-BFF9-465F10E60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02AA859-907A-EE8A-794F-4CB0D44D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F2A3F-308E-433B-B560-3578C9E5A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2404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CC10E38-16FB-9A2F-F006-B4B0527FD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C0A5-BCE3-4189-B342-79719AB6E92B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181A8C4-BC59-8C1F-7AB8-AD719B5E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0E32C1-2D4F-2827-D216-17B6E27CF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F2A3F-308E-433B-B560-3578C9E5A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4853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22F471-D7F7-4AAE-9CF2-1678C4786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6934FE-0A10-139C-66DF-5AD9AA351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38091F6-A831-A1F4-5DB7-FAF3F0939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223C54-3902-84A0-05DD-5A02659BA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C0A5-BCE3-4189-B342-79719AB6E92B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ED3B4C-4CD6-6440-6BA6-94DBAC488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D1437E-63AF-19EE-B2D9-E48E15CC2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F2A3F-308E-433B-B560-3578C9E5A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671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AF8C38-2946-A465-BC0D-4FBDBF60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0098DEA-475D-875E-CC33-DF67A20837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6E94FD-0DC0-EB2C-E38F-917988A40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0C15C9-3B35-F2A9-7291-ADFF9A0B5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C0A5-BCE3-4189-B342-79719AB6E92B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23BAE4-BC1B-F75D-7B78-835EF106A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1489660-FEED-CE99-0F11-D5D09610A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F2A3F-308E-433B-B560-3578C9E5A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4043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B78066-7574-EF25-E3D6-D2C58A20C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D81FFB-2E9F-2B64-D31D-6C52904E1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D290AC-0E51-3A41-444D-20253FF09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C0A5-BCE3-4189-B342-79719AB6E92B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3AB30A-5D0A-1535-AC62-618172A63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EAD783-5553-7839-939A-156B864C0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F2A3F-308E-433B-B560-3578C9E5A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901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86AFE80-EDCA-667B-52E1-FD5C2BB5ED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B378549-23F0-82B9-997C-A2B6558CD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C9EF96-66A9-675A-56FB-93FAC02E0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C0A5-BCE3-4189-B342-79719AB6E92B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48FC14-EA27-D061-6C43-8B3F968A0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617E4E-32C2-3624-3BF2-0447048F7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F2A3F-308E-433B-B560-3578C9E5A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766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B52878-64AC-24C4-AD1F-ACC5A7A79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EEBBDA-1141-0EDC-651E-4D6FB44E3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DEAB85-531B-E638-E8D8-55281C660C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5C0A5-BCE3-4189-B342-79719AB6E92B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1C736C-D84A-29A9-5BBF-FB5803DC2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6A49CE-5844-B40C-FAFF-671DD867D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AF2A3F-308E-433B-B560-3578C9E5A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1202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61C286-FEE7-F08D-EE58-FDBAF89AC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Two different employments: </a:t>
            </a:r>
            <a:r>
              <a:rPr lang="en-US" b="1" dirty="0">
                <a:solidFill>
                  <a:srgbClr val="002060"/>
                </a:solidFill>
              </a:rPr>
              <a:t>government</a:t>
            </a:r>
            <a:r>
              <a:rPr lang="en-US" b="1" dirty="0"/>
              <a:t> and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private</a:t>
            </a:r>
            <a:endParaRPr lang="ru-RU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13BA3245-284D-E50D-BF9D-6B98ED108C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65" y="1825625"/>
            <a:ext cx="5503606" cy="4351338"/>
          </a:xfrm>
          <a:prstGeom prst="rect">
            <a:avLst/>
          </a:prstGeom>
        </p:spPr>
      </p:pic>
      <p:pic>
        <p:nvPicPr>
          <p:cNvPr id="8" name="Объект 7">
            <a:extLst>
              <a:ext uri="{FF2B5EF4-FFF2-40B4-BE49-F238E27FC236}">
                <a16:creationId xmlns:a16="http://schemas.microsoft.com/office/drawing/2014/main" id="{A618B6DD-314E-35C4-290C-6024718FBD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825625"/>
            <a:ext cx="569533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43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C7B8A4-232E-E419-81C0-A347DCD16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266" y="-15557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Let’s compare employment in government companies with that of private institutions</a:t>
            </a:r>
            <a:endParaRPr lang="ru-RU" sz="3600" b="1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E03873-50D8-33BE-DD13-5F174F1EF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213" y="710430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Governmental employment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148620F-64DC-1746-036F-45502D522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534342"/>
            <a:ext cx="5157787" cy="53181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Public Service First</a:t>
            </a:r>
            <a:br>
              <a:rPr lang="en-US" sz="2000" dirty="0"/>
            </a:br>
            <a:r>
              <a:rPr lang="en-US" sz="2000" dirty="0"/>
              <a:t>The main goal is to serve the public interest, not to maximize profit.</a:t>
            </a:r>
            <a:br>
              <a:rPr lang="en-US" sz="2000" dirty="0"/>
            </a:br>
            <a:r>
              <a:rPr lang="en-US" sz="2000" b="1" dirty="0"/>
              <a:t>Stability and Job Security</a:t>
            </a:r>
            <a:br>
              <a:rPr lang="en-US" sz="2000" dirty="0"/>
            </a:br>
            <a:r>
              <a:rPr lang="en-US" sz="2000" dirty="0"/>
              <a:t>Jobs are usually more stable, with lower risk of sudden layoffs.</a:t>
            </a:r>
            <a:br>
              <a:rPr lang="en-US" sz="2000" dirty="0"/>
            </a:br>
            <a:r>
              <a:rPr lang="en-US" sz="2000" b="1" dirty="0"/>
              <a:t>Rule-Based Operations</a:t>
            </a:r>
            <a:br>
              <a:rPr lang="en-US" sz="2000" dirty="0"/>
            </a:br>
            <a:r>
              <a:rPr lang="en-US" sz="2000" dirty="0"/>
              <a:t>Decisions follow laws, regulations, and formal procedures.</a:t>
            </a:r>
            <a:br>
              <a:rPr lang="en-US" sz="2000" dirty="0"/>
            </a:br>
            <a:r>
              <a:rPr lang="en-US" sz="2000" b="1" dirty="0"/>
              <a:t>Accountability to the State and Citizens</a:t>
            </a:r>
            <a:br>
              <a:rPr lang="en-US" sz="2000" dirty="0"/>
            </a:br>
            <a:r>
              <a:rPr lang="en-US" sz="2000" dirty="0"/>
              <a:t>These organizations answer to the government and, indirectly, to the public.</a:t>
            </a:r>
          </a:p>
          <a:p>
            <a:pPr marL="0" indent="0">
              <a:buNone/>
            </a:pPr>
            <a:r>
              <a:rPr lang="en-US" sz="2000" b="1" dirty="0"/>
              <a:t>Equality and Fairness</a:t>
            </a:r>
            <a:br>
              <a:rPr lang="en-US" sz="2000" dirty="0"/>
            </a:br>
            <a:r>
              <a:rPr lang="en-US" sz="2000" dirty="0"/>
              <a:t>Hiring and promotion often aim to be fair and standardized, sometimes through exams or fixed criteria.</a:t>
            </a:r>
          </a:p>
          <a:p>
            <a:pPr marL="0" indent="0">
              <a:buNone/>
            </a:pPr>
            <a:r>
              <a:rPr lang="en-US" sz="2000" b="1" dirty="0"/>
              <a:t>Limited Competition Pressure</a:t>
            </a:r>
            <a:br>
              <a:rPr lang="en-US" sz="2000" dirty="0"/>
            </a:br>
            <a:r>
              <a:rPr lang="en-US" sz="2000" dirty="0"/>
              <a:t>Performance is not always driven by market competition.</a:t>
            </a:r>
            <a:br>
              <a:rPr lang="en-US" sz="1800" dirty="0"/>
            </a:br>
            <a:endParaRPr lang="ru-RU" sz="1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BADC4F6-64DA-110C-439D-61305B8C51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6678" y="710430"/>
            <a:ext cx="5183188" cy="823912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Employment in private corporations</a:t>
            </a:r>
            <a:endParaRPr lang="ru-RU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58095E8-6982-A643-2E44-926C822E37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534342"/>
            <a:ext cx="5183188" cy="53181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Profit and Efficiency</a:t>
            </a:r>
            <a:br>
              <a:rPr lang="en-US" sz="2000" dirty="0"/>
            </a:br>
            <a:r>
              <a:rPr lang="en-US" sz="2000" dirty="0"/>
              <a:t>The main goal is to generate profit and operate efficiently.</a:t>
            </a:r>
          </a:p>
          <a:p>
            <a:pPr marL="0" indent="0">
              <a:buNone/>
            </a:pPr>
            <a:r>
              <a:rPr lang="en-US" sz="2000" b="1" dirty="0"/>
              <a:t>Performance-Based Growth</a:t>
            </a:r>
            <a:br>
              <a:rPr lang="en-US" sz="2000" dirty="0"/>
            </a:br>
            <a:r>
              <a:rPr lang="en-US" sz="2000" dirty="0"/>
              <a:t>Promotions and rewards are usually based on results, skills, and productivity.</a:t>
            </a:r>
          </a:p>
          <a:p>
            <a:pPr marL="0" indent="0">
              <a:buNone/>
            </a:pPr>
            <a:r>
              <a:rPr lang="en-US" sz="2000" b="1" dirty="0"/>
              <a:t>Innovation and Flexibility</a:t>
            </a:r>
            <a:br>
              <a:rPr lang="en-US" sz="2000" dirty="0"/>
            </a:br>
            <a:r>
              <a:rPr lang="en-US" sz="2000" dirty="0"/>
              <a:t>Private companies adapt quickly to market changes and encourage innovation.</a:t>
            </a:r>
          </a:p>
          <a:p>
            <a:pPr marL="0" indent="0">
              <a:buNone/>
            </a:pPr>
            <a:r>
              <a:rPr lang="en-US" sz="2000" b="1" dirty="0"/>
              <a:t>Competition-Driven Environment</a:t>
            </a:r>
            <a:br>
              <a:rPr lang="en-US" sz="2000" dirty="0"/>
            </a:br>
            <a:r>
              <a:rPr lang="en-US" sz="2000" dirty="0"/>
              <a:t>Strong competition pushes employees and companies to improve constantly.</a:t>
            </a:r>
            <a:br>
              <a:rPr lang="en-US" sz="2000" dirty="0"/>
            </a:br>
            <a:r>
              <a:rPr lang="en-US" sz="2000" b="1" dirty="0"/>
              <a:t>Higher Risk, Higher Reward</a:t>
            </a:r>
            <a:br>
              <a:rPr lang="en-US" sz="2000" dirty="0"/>
            </a:br>
            <a:r>
              <a:rPr lang="en-US" sz="2000" dirty="0"/>
              <a:t>Jobs may be less secure, but salaries, bonuses, and career growth can be higher.</a:t>
            </a:r>
          </a:p>
          <a:p>
            <a:pPr marL="0" indent="0">
              <a:buNone/>
            </a:pPr>
            <a:r>
              <a:rPr lang="en-US" sz="2000" b="1" dirty="0"/>
              <a:t>Customer and Market Focus</a:t>
            </a:r>
            <a:br>
              <a:rPr lang="en-US" sz="2000" dirty="0"/>
            </a:br>
            <a:r>
              <a:rPr lang="en-US" sz="2000" dirty="0"/>
              <a:t>Success depends on satisfying customers and staying competitive.</a:t>
            </a:r>
            <a:br>
              <a:rPr lang="en-US" sz="2000" dirty="0"/>
            </a:b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9290686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234</Words>
  <Application>Microsoft Office PowerPoint</Application>
  <PresentationFormat>Широкоэкранный</PresentationFormat>
  <Paragraphs>12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Two different employments: government and private</vt:lpstr>
      <vt:lpstr>Let’s compare employment in government companies with that of private institutions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Noutbuk Navoi</dc:creator>
  <cp:lastModifiedBy>Noutbuk Navoi</cp:lastModifiedBy>
  <cp:revision>2</cp:revision>
  <dcterms:created xsi:type="dcterms:W3CDTF">2026-02-14T13:02:09Z</dcterms:created>
  <dcterms:modified xsi:type="dcterms:W3CDTF">2026-02-14T18:02:45Z</dcterms:modified>
</cp:coreProperties>
</file>